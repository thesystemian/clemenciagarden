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démarrage (Rs)</c:v>
                </c:pt>
              </c:strCache>
            </c:strRef>
          </c:tx>
          <c:spPr>
            <a:solidFill>
              <a:srgbClr val="2D6F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D6F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7C5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A84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Irrigation
goutte-à-goutte</c:v>
                  </c:pt>
                  <c:pt idx="1">
                    <c:v>Outils
maraîchage</c:v>
                  </c:pt>
                  <c:pt idx="2">
                    <c:v>Amendements
sol/compost</c:v>
                  </c:pt>
                  <c:pt idx="3">
                    <c:v>Semences
bio</c:v>
                  </c:pt>
                  <c:pt idx="4">
                    <c:v>Paillage &amp;
filets</c:v>
                  </c:pt>
                  <c:pt idx="5">
                    <c:v>Divers &amp;
imprévus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18000</c:v>
                </c:pt>
                <c:pt idx="1">
                  <c:v>15000</c:v>
                </c:pt>
                <c:pt idx="2">
                  <c:v>12000</c:v>
                </c:pt>
                <c:pt idx="3">
                  <c:v>6000</c:v>
                </c:pt>
                <c:pt idx="4">
                  <c:v>8000</c:v>
                </c:pt>
                <c:pt idx="5">
                  <c:v>9000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Chiffre d'affaires (Rs)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 1</c:v>
                  </c:pt>
                  <c:pt idx="1">
                    <c:v>An 2</c:v>
                  </c:pt>
                  <c:pt idx="2">
                    <c:v>An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445000</c:v>
                </c:pt>
                <c:pt idx="1">
                  <c:v>620000</c:v>
                </c:pt>
                <c:pt idx="2">
                  <c:v>830000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Charges (Rs)</c:v>
                </c:pt>
              </c:strCache>
            </c:strRef>
          </c:tx>
          <c:spPr>
            <a:solidFill>
              <a:srgbClr val="C467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 1</c:v>
                  </c:pt>
                  <c:pt idx="1">
                    <c:v>An 2</c:v>
                  </c:pt>
                  <c:pt idx="2">
                    <c:v>An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288000</c:v>
                </c:pt>
                <c:pt idx="1">
                  <c:v>360000</c:v>
                </c:pt>
                <c:pt idx="2">
                  <c:v>430000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Résultat net (Rs)</c:v>
                </c:pt>
              </c:strCache>
            </c:strRef>
          </c:tx>
          <c:spPr>
            <a:solidFill>
              <a:srgbClr val="2D6F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 1</c:v>
                  </c:pt>
                  <c:pt idx="1">
                    <c:v>An 2</c:v>
                  </c:pt>
                  <c:pt idx="2">
                    <c:v>An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157000</c:v>
                </c:pt>
                <c:pt idx="1">
                  <c:v>260000</c:v>
                </c:pt>
                <c:pt idx="2">
                  <c:v>400000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00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457200" cy="51435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1371600"/>
            <a:ext cx="1463040" cy="1463040"/>
          </a:xfrm>
          <a:prstGeom prst="ellipse">
            <a:avLst/>
          </a:prstGeom>
          <a:solidFill>
            <a:srgbClr val="97BC62">
              <a:alpha val="80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60120"/>
            <a:ext cx="2651760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9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8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DOSSIER BPREA · MARAÎCHAGE BIO · MAURICE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CLEMENCIA</a:t>
            </a:r>
            <a:endParaRPr lang="en-US" sz="58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GARDEN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502920" y="32461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Micro-ferme maraîchère bio intensive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Farming adapté · Tropical · IA frugale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4206240"/>
            <a:ext cx="5029200" cy="274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2702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 &amp; Dax  ·  </a:t>
            </a:r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Clemencia, Maurice  ·  Altitude 96m  ·  1 Arpent  ·  Mai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03720" y="1463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6126480" y="28346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Partenaires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Investisseurs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3657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8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Maurice : une île sous dépendance alimentaire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694944"/>
            <a:ext cx="109728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5895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Géopolitique agricole · Contexte et enjeux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188720"/>
            <a:ext cx="1965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188720"/>
            <a:ext cx="1965960" cy="109728"/>
          </a:xfrm>
          <a:prstGeom prst="rect">
            <a:avLst/>
          </a:prstGeom>
          <a:solidFill>
            <a:srgbClr val="C4673A"/>
          </a:solidFill>
          <a:ln w="12700">
            <a:solidFill>
              <a:srgbClr val="C467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2588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467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80 %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01752" y="2011680"/>
            <a:ext cx="1819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aliments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importés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04872" y="1188720"/>
            <a:ext cx="1965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04872" y="1188720"/>
            <a:ext cx="196596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132588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9 €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478024" y="2011680"/>
            <a:ext cx="1819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hausse inflation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alim. / an / pers.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81144" y="1188720"/>
            <a:ext cx="1965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81144" y="1188720"/>
            <a:ext cx="1965960" cy="109728"/>
          </a:xfrm>
          <a:prstGeom prst="rect">
            <a:avLst/>
          </a:prstGeom>
          <a:solidFill>
            <a:srgbClr val="2D6FA6"/>
          </a:solidFill>
          <a:ln w="12700">
            <a:solidFill>
              <a:srgbClr val="2D6F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2584" y="132588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6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j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654296" y="2011680"/>
            <a:ext cx="1819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alimentaire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crise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57416" y="1188720"/>
            <a:ext cx="1965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57416" y="1188720"/>
            <a:ext cx="1965960" cy="10972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48856" y="132588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7C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↑ 42 %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830568" y="2011680"/>
            <a:ext cx="1819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hausse coût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intrants 2020–24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3090672"/>
            <a:ext cx="8686800" cy="1691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2004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que Clemencia Garden répond à ces enjeux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480" y="3547872"/>
            <a:ext cx="8321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Production locale de légumes frais bio pour réduire la dépendance aux importations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Modèle réplicable sur petite surface (1 arpent) · accessible aux petits porteurs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Souveraineté semencière documentée · traçabilité bio · preuve terrain locale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8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 &amp; proposition de valeur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694944"/>
            <a:ext cx="109728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5895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démonstrateur local de résilience · pas une simple ferme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143000"/>
            <a:ext cx="8686800" cy="8229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18872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"Micro-ferme maraîchère bio à Clemencia, pilotée par données,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couche numérique frugale et agents spécialisés d'aide à la décision."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219456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194560"/>
            <a:ext cx="2743200" cy="914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3317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86968" y="23500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Maraîchère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852928"/>
            <a:ext cx="24688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Légumes frais bio · cycles courts · SPIN farming adapté au tropique · vente locale directe · paniers · restauration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54680" y="219456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2194560"/>
            <a:ext cx="2743200" cy="914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23317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813048" y="23500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Bibliothèque Semences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2852928"/>
            <a:ext cx="24688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de variétés locales · documentation · traçabilité · valorisation progressive selon cadre réglementaire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219456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2194560"/>
            <a:ext cx="2743200" cy="914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23317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739128" y="23500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Média de Preuve Terrain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2852928"/>
            <a:ext cx="24688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· vidéos · données · contenus pédagogiques · VizuSeed (Instagram, YouTube, TikTok, Patreon)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8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Localisation &amp; caractéristiques du terrain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694944"/>
            <a:ext cx="109728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5895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Clemencia · Sud-Ouest de Maurice · 1 Arpent = 4 047 m²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143000"/>
            <a:ext cx="3840480" cy="3566160"/>
          </a:xfrm>
          <a:prstGeom prst="rect">
            <a:avLst/>
          </a:prstGeom>
          <a:solidFill>
            <a:srgbClr val="E8F5E9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143000"/>
            <a:ext cx="3840480" cy="3474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88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GPS  CLEMENCIA, MAURITIUS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6002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20°15'50.64"S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57°42'47.64"E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645920" y="2423160"/>
            <a:ext cx="457200" cy="457200"/>
          </a:xfrm>
          <a:prstGeom prst="ellipse">
            <a:avLst/>
          </a:prstGeom>
          <a:solidFill>
            <a:srgbClr val="C4673A"/>
          </a:solidFill>
          <a:ln w="12700">
            <a:solidFill>
              <a:srgbClr val="C46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242316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v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02920" y="3017520"/>
            <a:ext cx="3291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0906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Altitude 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65960" y="30906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96,28 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401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agroclimat. 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65960" y="34015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Chaud-humide tropical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7124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Vents dominants 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65960" y="371246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Alizés SE (forte saison)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4023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Pluviométrie 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65960" y="4023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~2 200 mm / an (zone)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51960" y="1170432"/>
            <a:ext cx="4663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370832" y="1243584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&gt;&gt;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773168" y="1234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Surface totale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1234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arpent = 4 047 m²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51960" y="1673352"/>
            <a:ext cx="4663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370832" y="1746504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#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773168" y="1737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planches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46520" y="1737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 m² (12 × 20m×0,8m)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51960" y="2176272"/>
            <a:ext cx="4663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370832" y="2249424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^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773168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Topographie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46520" y="2240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plat · peu d'érosion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51960" y="2679192"/>
            <a:ext cx="4663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370832" y="2752344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~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773168" y="2743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Accès eau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46520" y="2743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CWA + collecte pluie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51960" y="3182112"/>
            <a:ext cx="4663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370832" y="3255264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773168" y="3246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Ensoleillement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46520" y="3246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 · 7–9 h/j hors saison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251960" y="3685032"/>
            <a:ext cx="4663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370832" y="3758184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4773168" y="3749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 estimé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4652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Argilo-limoneux volcanique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251960" y="4187952"/>
            <a:ext cx="4663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370832" y="4261104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=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4773168" y="4251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Statut foncier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46520" y="4251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Propriété Kush (terrain réel)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8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porteurs du projet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694944"/>
            <a:ext cx="109728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5895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profils complémentaires · gouvernance 50 / 50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18872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188720"/>
            <a:ext cx="402336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344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KUSH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1719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· Production · Opérations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0299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Propriétaire du terrain à Clemencia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43230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Pilotage opérationnel de la production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8346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Suivi cultures, récoltes, essais terrain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2369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Logistique et ventes directes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6393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Expérience agricole locale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4480560"/>
            <a:ext cx="4023360" cy="2743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480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8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ÉQUITÉ : 50 %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92040" y="118872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1188720"/>
            <a:ext cx="4023360" cy="5029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2344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DAX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29200" y="1719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· Documentation · Digital · IA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Structuration stratégique du projet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24323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Documentation, dataviz, ligne éditoriale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28346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Développement outils IA frugaux (Bash / LLM)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32369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Relation partenaires &amp; dossiers institutionnels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36393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BPREA en cours · reconversion agri-tech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92040" y="4480560"/>
            <a:ext cx="4023360" cy="2743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4480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8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ÉQUITÉ : 50 %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5196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4114800" y="3291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VizuSeed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8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Modèle de production : SPIN Farming adapté au tropical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694944"/>
            <a:ext cx="109728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5895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Plot INtensive · Planches permanentes · Cycles courts · Bio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" y="1143000"/>
            <a:ext cx="27432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143000"/>
            <a:ext cx="2743200" cy="56692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170432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04088" y="12344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 vivant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5760" y="18288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Compost maison continu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230428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Paillage permanent (0 sol nu)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5760" y="277977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Engrais verts entre cycles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5760" y="3255264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Amendements bio locaux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" y="373075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Zéro labour profond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172968" y="1143000"/>
            <a:ext cx="27432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72968" y="1143000"/>
            <a:ext cx="2743200" cy="566928"/>
          </a:xfrm>
          <a:prstGeom prst="rect">
            <a:avLst/>
          </a:prstGeom>
          <a:solidFill>
            <a:srgbClr val="2D6FA6"/>
          </a:solidFill>
          <a:ln w="12700">
            <a:solidFill>
              <a:srgbClr val="2D6F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82696" y="1170432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675888" y="12344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Eau maîtrisée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337560" y="18288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Goutte-à-goutte sur planches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37560" y="230428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Paillage → −60 % évaporation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37560" y="277977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Récupération eau de pluie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37560" y="3255264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Surveillance stress hydrique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37560" y="373075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Irrigation ciblée par agent IA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44768" y="1143000"/>
            <a:ext cx="27432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44768" y="1143000"/>
            <a:ext cx="2743200" cy="566928"/>
          </a:xfrm>
          <a:prstGeom prst="rect">
            <a:avLst/>
          </a:prstGeom>
          <a:solidFill>
            <a:srgbClr val="C4673A"/>
          </a:solidFill>
          <a:ln w="12700">
            <a:solidFill>
              <a:srgbClr val="C467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1170432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647688" y="12344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Cycles serrés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309360" y="18288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12 planches 20m×0,8m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09360" y="230428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25–50 jours / cycle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309360" y="277977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 à 5 rotations / an / planche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09360" y="3255264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Cultures compagnes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309360" y="373075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Récolte hebdomadaire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01168" y="4828032"/>
            <a:ext cx="8741664" cy="246888"/>
          </a:xfrm>
          <a:prstGeom prst="rect">
            <a:avLst/>
          </a:prstGeom>
          <a:solidFill>
            <a:srgbClr val="EDE8DC"/>
          </a:solidFill>
          <a:ln w="12700">
            <a:solidFill>
              <a:srgbClr val="EDE8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" y="4828032"/>
            <a:ext cx="85587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phase 1 : 192 m² utiles · 12 planches · 2 personnes · rentabilité dès le 6ème mois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8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de la ferme — 1 arpent (4 047 m²)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694944"/>
            <a:ext cx="109728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5895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spatiale phase 1 → phase 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115568"/>
            <a:ext cx="5577840" cy="3794760"/>
          </a:xfrm>
          <a:prstGeom prst="rect">
            <a:avLst/>
          </a:prstGeom>
          <a:solidFill>
            <a:srgbClr val="EEF7EE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261872"/>
            <a:ext cx="3200400" cy="1508760"/>
          </a:xfrm>
          <a:prstGeom prst="rect">
            <a:avLst/>
          </a:prstGeom>
          <a:solidFill>
            <a:srgbClr val="A8D5A2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3258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1A3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ZONE PLANCHES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1A3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192 m²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1A3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planches 20m×0,8m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2834640"/>
            <a:ext cx="3200400" cy="1188720"/>
          </a:xfrm>
          <a:prstGeom prst="rect">
            <a:avLst/>
          </a:prstGeom>
          <a:solidFill>
            <a:srgbClr val="D4EDD1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907792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EXPANSION PHASE 2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m² · An 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0" y="1261872"/>
            <a:ext cx="1417320" cy="1143000"/>
          </a:xfrm>
          <a:prstGeom prst="rect">
            <a:avLst/>
          </a:prstGeom>
          <a:solidFill>
            <a:srgbClr val="DEC8A6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132588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[C] Compost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Stockage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0" y="2487168"/>
            <a:ext cx="1417320" cy="777240"/>
          </a:xfrm>
          <a:prstGeom prst="rect">
            <a:avLst/>
          </a:prstGeom>
          <a:solidFill>
            <a:srgbClr val="BDD8F0"/>
          </a:solidFill>
          <a:ln w="12700">
            <a:solidFill>
              <a:srgbClr val="2D6F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752" y="2532888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Citerne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Pompe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0" y="3337560"/>
            <a:ext cx="1417320" cy="685800"/>
          </a:xfrm>
          <a:prstGeom prst="rect">
            <a:avLst/>
          </a:prstGeom>
          <a:solidFill>
            <a:srgbClr val="E8E0D0"/>
          </a:solidFill>
          <a:ln w="12700">
            <a:solidFill>
              <a:srgbClr val="C467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0752" y="338328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[A] Abri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0" y="4096512"/>
            <a:ext cx="1417320" cy="658368"/>
          </a:xfrm>
          <a:prstGeom prst="rect">
            <a:avLst/>
          </a:prstGeom>
          <a:solidFill>
            <a:srgbClr val="C8E6C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0752" y="4133088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[H] Haies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brise-vent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166360" y="1261872"/>
            <a:ext cx="530352" cy="3493008"/>
          </a:xfrm>
          <a:prstGeom prst="rect">
            <a:avLst/>
          </a:prstGeom>
          <a:solidFill>
            <a:srgbClr val="B8DDB4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75504" y="1737360"/>
            <a:ext cx="51206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89320" y="1188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LÉGENDE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89320" y="1536192"/>
            <a:ext cx="256032" cy="256032"/>
          </a:xfrm>
          <a:prstGeom prst="rect">
            <a:avLst/>
          </a:prstGeom>
          <a:solidFill>
            <a:srgbClr val="A8D5A2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53619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Planches de production (Phase 1)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89320" y="2039112"/>
            <a:ext cx="256032" cy="256032"/>
          </a:xfrm>
          <a:prstGeom prst="rect">
            <a:avLst/>
          </a:prstGeom>
          <a:solidFill>
            <a:srgbClr val="D4EDD1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03911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Phase 2 (~500 m²)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89320" y="2542032"/>
            <a:ext cx="256032" cy="256032"/>
          </a:xfrm>
          <a:prstGeom prst="rect">
            <a:avLst/>
          </a:prstGeom>
          <a:solidFill>
            <a:srgbClr val="DEC8A6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254203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Compost &amp; stockage intrants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89320" y="3044952"/>
            <a:ext cx="256032" cy="256032"/>
          </a:xfrm>
          <a:prstGeom prst="rect">
            <a:avLst/>
          </a:prstGeom>
          <a:solidFill>
            <a:srgbClr val="BDD8F0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304495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Eau : citerne + pompe solaire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89320" y="3547872"/>
            <a:ext cx="256032" cy="256032"/>
          </a:xfrm>
          <a:prstGeom prst="rect">
            <a:avLst/>
          </a:prstGeom>
          <a:solidFill>
            <a:srgbClr val="E8E0D0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54787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 outils &amp; matériel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89320" y="4050792"/>
            <a:ext cx="256032" cy="256032"/>
          </a:xfrm>
          <a:prstGeom prst="rect">
            <a:avLst/>
          </a:prstGeom>
          <a:solidFill>
            <a:srgbClr val="C8E6C2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405079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Haies brise-vent + biodiversité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89320" y="4572000"/>
            <a:ext cx="2926080" cy="384048"/>
          </a:xfrm>
          <a:prstGeom prst="rect">
            <a:avLst/>
          </a:prstGeom>
          <a:solidFill>
            <a:srgbClr val="2C5F2D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080760" y="45994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totale : 4 047 m² (1 arpent)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8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Cultures prioritaires &amp; calendrier de rotation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694944"/>
            <a:ext cx="109728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5895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4 blocs · 3 ans · Adapté climat mauricien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11155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Cultures sélectionnées (cycles courts, valeur marchande, adaptation tropique)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417320"/>
          <a:ext cx="5074920" cy="3429000"/>
        </p:xfrm>
        <a:graphic>
          <a:graphicData uri="http://schemas.openxmlformats.org/drawingml/2006/table">
            <a:tbl>
              <a:tblPr/>
              <a:tblGrid>
                <a:gridCol w="1554480"/>
                <a:gridCol w="822960"/>
                <a:gridCol w="1234440"/>
                <a:gridCol w="141732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Saison faveur.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 marchée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Brèdes / Amarante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25–40 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Toute l'année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25–35 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Été (Jan–Mar)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Basilic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35–50 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Été humide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Coriandre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35–50 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Hiver (Jui–Sep)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Ciboule / Oignon vert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45–60 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Toute l'année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Haricot nain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45–60 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Laitue tropicalisée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35–50 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 choi / Petsaï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30–45 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Concombre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35–50 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532120" y="11155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Calendrier rotation 4 blocs (An 1)</a:t>
            </a:r>
            <a:endParaRPr lang="en-US" sz="11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1417320"/>
          <a:ext cx="3383280" cy="3429000"/>
        </p:xfrm>
        <a:graphic>
          <a:graphicData uri="http://schemas.openxmlformats.org/drawingml/2006/table">
            <a:tbl>
              <a:tblPr/>
              <a:tblGrid>
                <a:gridCol w="384048"/>
                <a:gridCol w="749808"/>
                <a:gridCol w="749808"/>
                <a:gridCol w="749808"/>
                <a:gridCol w="749808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Jan–Mar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Avr–Jun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Jul–Sep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Oct–Déc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Concombre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Courgette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Basilic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Haricot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Engrais vert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Brèdes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Amarante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Coriandre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Ciboule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Laitue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 choi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Oignon vert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Betterave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Haricot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Engrais vert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 choi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Coriandre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228600" y="4828032"/>
            <a:ext cx="8686800" cy="246888"/>
          </a:xfrm>
          <a:prstGeom prst="rect">
            <a:avLst/>
          </a:prstGeom>
          <a:solidFill>
            <a:srgbClr val="EDE8DC"/>
          </a:solidFill>
          <a:ln w="12700">
            <a:solidFill>
              <a:srgbClr val="EDE8D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20040" y="4828032"/>
            <a:ext cx="8503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20–25 % de la surface en couvert végétal permanent · jamais de sol nu · rotation stricte anti-épuisement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8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Système IA frugale — 3 agents spécialisés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694944"/>
            <a:ext cx="109728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5895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 3.0 : le terrain d'abord · la tech au service de la décision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143000"/>
            <a:ext cx="8686800" cy="475488"/>
          </a:xfrm>
          <a:prstGeom prst="rect">
            <a:avLst/>
          </a:prstGeom>
          <a:solidFill>
            <a:srgbClr val="1A3820"/>
          </a:solidFill>
          <a:ln w="12700">
            <a:solidFill>
              <a:srgbClr val="1A38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887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 → Eau → Cultures → Données → Agents IA → Décisions concrètes · Cycle hebdomadaire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828800"/>
            <a:ext cx="8686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828800"/>
            <a:ext cx="566928" cy="896112"/>
          </a:xfrm>
          <a:prstGeom prst="rect">
            <a:avLst/>
          </a:prstGeom>
          <a:solidFill>
            <a:srgbClr val="2D6FA6"/>
          </a:solidFill>
          <a:ln w="12700">
            <a:solidFill>
              <a:srgbClr val="2D6F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" y="2084832"/>
            <a:ext cx="530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19019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METEO  Agent Sentinelle Eau-Climat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ENTREES : Météo MMS · Bulletins agro-climatiques · Observations terrain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43400" y="2148840"/>
            <a:ext cx="36576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1901952"/>
            <a:ext cx="4343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SORTIES : Briefing matin · Alertes irrigation · Créneaux semis/récolte · Risque cyclone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2816352"/>
            <a:ext cx="8686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816352"/>
            <a:ext cx="566928" cy="8961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" y="3072384"/>
            <a:ext cx="530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288950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VEILLE  Agent Veille Géopo-Agri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2735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ENTREES : Budget Maurice · Pages Ministère · Schémas Bio-Farming · EDB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43400" y="3136392"/>
            <a:ext cx="36576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2889504"/>
            <a:ext cx="4343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SORTIES : Aides disponibles · Appels à projets · Échéances réglementaires · Cadre semences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3803904"/>
            <a:ext cx="8686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803904"/>
            <a:ext cx="566928" cy="896112"/>
          </a:xfrm>
          <a:prstGeom prst="rect">
            <a:avLst/>
          </a:prstGeom>
          <a:solidFill>
            <a:srgbClr val="C4673A"/>
          </a:solidFill>
          <a:ln w="12700">
            <a:solidFill>
              <a:srgbClr val="C467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" y="4059936"/>
            <a:ext cx="530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387705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67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 Agent Copilote d'Exploitation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426110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ENTREES : Semis · Récoltes · Ventes · Coûts · Incidents · Temps de travail · Photos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43400" y="4123944"/>
            <a:ext cx="36576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4840" y="3877056"/>
            <a:ext cx="4343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SORTIES : Marges par culture · Anomalies rendement · Priorités du jour · Rapport hebdo partenaire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" y="4800600"/>
            <a:ext cx="8686800" cy="292608"/>
          </a:xfrm>
          <a:prstGeom prst="rect">
            <a:avLst/>
          </a:prstGeom>
          <a:solidFill>
            <a:srgbClr val="EDE8DC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20040" y="4828032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frugal : Bash · Git · CSV/Markdown · LLM API · Cron  ·  Coût estimé &lt; 15 € / mois  ·  Données privées sur serveur local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8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 de démarrage — Phase 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694944"/>
            <a:ext cx="109728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5895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 initial · Rs 68 000 · ~1 255 €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28600" y="114300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806440" y="1143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Détail par poste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06440" y="157276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goutte-à-goutte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06440" y="181965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18,000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132320" y="1847088"/>
            <a:ext cx="22860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0" y="1847088"/>
            <a:ext cx="594360" cy="128016"/>
          </a:xfrm>
          <a:prstGeom prst="rect">
            <a:avLst/>
          </a:prstGeom>
          <a:solidFill>
            <a:srgbClr val="2D6FA6"/>
          </a:solidFill>
          <a:ln w="12700">
            <a:solidFill>
              <a:srgbClr val="2D6F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64040" y="181965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806440" y="212140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maraîchage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06440" y="236829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15,000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132320" y="2395728"/>
            <a:ext cx="22860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132320" y="2395728"/>
            <a:ext cx="502920" cy="12801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64040" y="236829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806440" y="267004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Amendements sol / compost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806440" y="291693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12,000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132320" y="2944368"/>
            <a:ext cx="22860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0" y="2944368"/>
            <a:ext cx="411480" cy="128016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64040" y="291693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806440" y="321868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Paillage &amp; filets protection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806440" y="346557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8,000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132320" y="3493008"/>
            <a:ext cx="22860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32320" y="3493008"/>
            <a:ext cx="274320" cy="1280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464040" y="346557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806440" y="376732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Semences bio certifiées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806440" y="401421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6,000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132320" y="4041648"/>
            <a:ext cx="22860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132320" y="4041648"/>
            <a:ext cx="205740" cy="12801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464040" y="401421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806440" y="431596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 &amp; imprévus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806440" y="456285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9,000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132320" y="4590288"/>
            <a:ext cx="22860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132320" y="4590288"/>
            <a:ext cx="297180" cy="1280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464040" y="456285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5806440" y="4617720"/>
            <a:ext cx="3108960" cy="38404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897880" y="463600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: Rs 68 000  ·  ~1 255 €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8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Prévisionnel financier — 3 ans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694944"/>
            <a:ext cx="109728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5895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prudente · Taux : 1 EUR = 54,18 MUR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14300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143000"/>
            <a:ext cx="2011680" cy="914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618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An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5087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445 000 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" y="1901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~8 214 €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23160" y="114300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1143000"/>
            <a:ext cx="2011680" cy="91440"/>
          </a:xfrm>
          <a:prstGeom prst="rect">
            <a:avLst/>
          </a:prstGeom>
          <a:solidFill>
            <a:srgbClr val="C4673A"/>
          </a:solidFill>
          <a:ln w="12700">
            <a:solidFill>
              <a:srgbClr val="C467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2618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annuelles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14600" y="15087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67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288 000 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14600" y="1901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~5 315 €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114300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143000"/>
            <a:ext cx="2011680" cy="91440"/>
          </a:xfrm>
          <a:prstGeom prst="rect">
            <a:avLst/>
          </a:prstGeom>
          <a:solidFill>
            <a:srgbClr val="2D6FA6"/>
          </a:solidFill>
          <a:ln w="12700">
            <a:solidFill>
              <a:srgbClr val="2D6F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2618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net An 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15087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157 000 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09160" y="1901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~2 898 €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12280" y="114300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1143000"/>
            <a:ext cx="2011680" cy="9144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12618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/ porteur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03720" y="15087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C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78 500 Rs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03720" y="1901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~1 449 €</a:t>
            </a:r>
            <a:endParaRPr lang="en-US" sz="11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228600" y="2514600"/>
          <a:ext cx="53949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Text 25"/>
          <p:cNvSpPr/>
          <p:nvPr/>
        </p:nvSpPr>
        <p:spPr>
          <a:xfrm>
            <a:off x="5806440" y="2514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Charges mensuelles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806440" y="29077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Eau (CWA)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863840" y="290779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3,500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806440" y="32278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Intrants bio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863840" y="322783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5,500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806440" y="35478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Transport/Livraison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863840" y="354787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4,000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806440" y="38679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Emballage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863840" y="386791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2,500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806440" y="41879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Communication/Tech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863840" y="418795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2,000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806440" y="45079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863840" y="450799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6,500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806440" y="4864608"/>
            <a:ext cx="3108960" cy="457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806440" y="491032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 Rs 24 000 / mois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8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 — 3 niveaux d'exécution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694944"/>
            <a:ext cx="109728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5895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Montée en charge progressive · Preuve terrain avant narration commerciale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" y="1143000"/>
            <a:ext cx="2798064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143000"/>
            <a:ext cx="2798064" cy="54864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170432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Niveau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" y="1417320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Maraîchage Simple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0896" y="1755648"/>
            <a:ext cx="1828800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17556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démarrage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0896" y="21214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An 1 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99616" y="21214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1,5–4k€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" y="24048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An 2+ 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99616" y="24048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2–5k€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0896" y="2788920"/>
            <a:ext cx="25603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" y="28529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Légumes frais vente directe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0896" y="32369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Paniers hebdomadaires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0896" y="362102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Marchés locaux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82112" y="1143000"/>
            <a:ext cx="2798064" cy="3749040"/>
          </a:xfrm>
          <a:prstGeom prst="rect">
            <a:avLst/>
          </a:prstGeom>
          <a:solidFill>
            <a:srgbClr val="F0F7F0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82112" y="1143000"/>
            <a:ext cx="2798064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1170432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Niveau 2 *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1417320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Maraîchage + Seed Library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1755648"/>
            <a:ext cx="1828800" cy="2560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17556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RECOMMANDÉ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91840" y="21214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An 1 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80560" y="21214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2,3–6k€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24048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An 2+ 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80560" y="24048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4–12k€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91840" y="2788920"/>
            <a:ext cx="25603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28529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Légumes frais + herbes aromatiques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91840" y="32369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Semences documentées valorisées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91840" y="362102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Contenus VizuSeed (Patreon / sponsor)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63056" y="1143000"/>
            <a:ext cx="2798064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63056" y="1143000"/>
            <a:ext cx="2798064" cy="548640"/>
          </a:xfrm>
          <a:prstGeom prst="rect">
            <a:avLst/>
          </a:prstGeom>
          <a:solidFill>
            <a:srgbClr val="2D6FA6"/>
          </a:solidFill>
          <a:ln w="12700">
            <a:solidFill>
              <a:srgbClr val="2D6F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72784" y="1170432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Niveau 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72784" y="1417320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Conservatoire Vivant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272784" y="1755648"/>
            <a:ext cx="1828800" cy="256032"/>
          </a:xfrm>
          <a:prstGeom prst="rect">
            <a:avLst/>
          </a:prstGeom>
          <a:solidFill>
            <a:srgbClr val="2D6FA6"/>
          </a:solidFill>
          <a:ln w="12700">
            <a:solidFill>
              <a:srgbClr val="2D6F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72784" y="17556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 (An 3+)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72784" y="21214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An 1 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461504" y="21214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3–10k€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72784" y="24048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An 2+ 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61504" y="24048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15–50k€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272784" y="2788920"/>
            <a:ext cx="25603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72784" y="28529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Légumes + semences + flore locale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272784" y="32369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Partenariats institutionnels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72784" y="362102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Formation, visites, pédagogie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01168" y="4828032"/>
            <a:ext cx="8741664" cy="246888"/>
          </a:xfrm>
          <a:prstGeom prst="rect">
            <a:avLst/>
          </a:prstGeom>
          <a:solidFill>
            <a:srgbClr val="EDE8DC"/>
          </a:solidFill>
          <a:ln w="12700">
            <a:solidFill>
              <a:srgbClr val="EDE8D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2608" y="4828032"/>
            <a:ext cx="85587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50/50 Kush &amp; Dax sur tous les streams · Kush = terrain + production · Dax = digital + stratégie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8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Feuille de route — de la mise en route au déploiement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694944"/>
            <a:ext cx="109728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5895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phases · 36 mois · Preuve avant scale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600200"/>
            <a:ext cx="8686800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481328"/>
            <a:ext cx="292608" cy="292608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828800"/>
            <a:ext cx="21031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828800"/>
            <a:ext cx="2103120" cy="56692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4708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" y="21031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MISE EN ROUTE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14813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Mai–Juil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2450592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Cartographier le terrain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2889504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Préparer 6 premières planches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" y="3328416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Démarrer 4 cultures pilotes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" y="3767328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Installer irrigation + paillage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" y="4206240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Journalisation quotidienne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" y="4645152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Accord de gouvernance écrit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82112" y="1481328"/>
            <a:ext cx="292608" cy="29260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04872" y="1828800"/>
            <a:ext cx="21031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404872" y="1828800"/>
            <a:ext cx="2103120" cy="56692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96312" y="184708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496312" y="21031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PREUVE DE VENTE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496312" y="14813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Août–Nov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496312" y="2450592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Tester débouchés locaux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496312" y="2889504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Premiers paniers hebdomadaires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496312" y="3328416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Mesurer rendements réels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496312" y="3767328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Corriger plan cultural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496312" y="4206240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Lancer agent météo (Agent 1)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496312" y="4645152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Début contenu VizuSeed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358384" y="1481328"/>
            <a:ext cx="292608" cy="292608"/>
          </a:xfrm>
          <a:prstGeom prst="ellipse">
            <a:avLst/>
          </a:prstGeom>
          <a:solidFill>
            <a:srgbClr val="2D6FA6"/>
          </a:solidFill>
          <a:ln w="12700">
            <a:solidFill>
              <a:srgbClr val="2D6FA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81144" y="1828800"/>
            <a:ext cx="21031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81144" y="1828800"/>
            <a:ext cx="2103120" cy="566928"/>
          </a:xfrm>
          <a:prstGeom prst="rect">
            <a:avLst/>
          </a:prstGeom>
          <a:solidFill>
            <a:srgbClr val="2D6FA6"/>
          </a:solidFill>
          <a:ln w="12700">
            <a:solidFill>
              <a:srgbClr val="2D6F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72584" y="184708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72584" y="21031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72584" y="14813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 2026–Mar 2027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72584" y="2450592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Formaliser offre commerciale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672584" y="2889504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Produire contenus réguliers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672584" y="3328416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Clarifier cadre semences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672584" y="3767328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Agents IA 2 &amp; 3 opérationnels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672584" y="4206240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Dossier appuis / financement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672584" y="4645152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Identifier bons partenaires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534656" y="1481328"/>
            <a:ext cx="292608" cy="292608"/>
          </a:xfrm>
          <a:prstGeom prst="ellipse">
            <a:avLst/>
          </a:prstGeom>
          <a:solidFill>
            <a:srgbClr val="C4673A"/>
          </a:solidFill>
          <a:ln w="12700">
            <a:solidFill>
              <a:srgbClr val="C4673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57416" y="1828800"/>
            <a:ext cx="21031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757416" y="1828800"/>
            <a:ext cx="2103120" cy="566928"/>
          </a:xfrm>
          <a:prstGeom prst="rect">
            <a:avLst/>
          </a:prstGeom>
          <a:solidFill>
            <a:srgbClr val="C4673A"/>
          </a:solidFill>
          <a:ln w="12700">
            <a:solidFill>
              <a:srgbClr val="C4673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48856" y="184708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848856" y="21031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DÉPLOIEMENT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848856" y="14813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 2027+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848856" y="2450592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Expansion surface (~500 m²)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848856" y="2889504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Partenariats institutionnels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848856" y="3328416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Micro-financement cible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848856" y="3767328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Seed Library structurée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848856" y="4206240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Formation / pédagogie terrain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48856" y="4645152"/>
            <a:ext cx="1920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Consolider image &amp; résultats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8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Partenaires &amp; appuis recherchés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694944"/>
            <a:ext cx="109728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5895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dimensions d'intérêt pour un partenaire sérieux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18872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188720"/>
            <a:ext cx="4206240" cy="47548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2801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  Agricole &amp; Technique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" y="1737360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Agronomes / FAREI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3192" y="2002536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Spécialistes irrigation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93192" y="2267712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Fournisseurs intrants bio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93192" y="2532888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Bio-Farming Scheme (MAIF)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93192" y="2798064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Appui semences &amp; variétés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118872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188720"/>
            <a:ext cx="4206240" cy="47548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12801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Commercial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73752" y="1737360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Restaurants &amp; hôtels locaux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73752" y="2002536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Épiceries fine / marchés bio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73752" y="2267712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Paniers circuits courts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73752" y="2532888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Points de vente nature / santé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73752" y="2798064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Plateformes e-commerce local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" y="320040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200400"/>
            <a:ext cx="4206240" cy="475488"/>
          </a:xfrm>
          <a:prstGeom prst="rect">
            <a:avLst/>
          </a:prstGeom>
          <a:solidFill>
            <a:srgbClr val="2D6FA6"/>
          </a:solidFill>
          <a:ln w="12700">
            <a:solidFill>
              <a:srgbClr val="2D6F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" y="3291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Institutionnel &amp; Financier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3192" y="3749040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SME Mauritius (schémas PME agri)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93192" y="4014216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DBM (mécanismes micro-crédit)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93192" y="4279392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Budget 2025-26 (Rs 800M agri)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93192" y="4544568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Fondations résilience alimentaire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93192" y="4809744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Incubateurs agri-tech OI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320040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200400"/>
            <a:ext cx="4206240" cy="475488"/>
          </a:xfrm>
          <a:prstGeom prst="rect">
            <a:avLst/>
          </a:prstGeom>
          <a:solidFill>
            <a:srgbClr val="C4673A"/>
          </a:solidFill>
          <a:ln w="12700">
            <a:solidFill>
              <a:srgbClr val="C467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8888" y="3291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Média &amp; Communication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73752" y="3749040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Marques locales alignées bio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73752" y="4014216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Médias régionaux / presse agri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73752" y="4279392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Plateformes éducatives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73752" y="4544568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Patreon / communauté VizuSeed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73752" y="4809744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Institutions pédagogiques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28600" y="4828032"/>
            <a:ext cx="8686800" cy="24688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4828032"/>
            <a:ext cx="8503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soutien n'est pas forcément massif · Un appui ciblé au bon moment peut avoir un effet structurant important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8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 des risques &amp; plan de mitigation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694944"/>
            <a:ext cx="109728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5895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Transparence · Réalisme · Réponses concrètes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170432"/>
            <a:ext cx="8686800" cy="31089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Risque identifié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1188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Probabilité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4924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Réponse / Mitigation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1508760"/>
            <a:ext cx="8686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00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Cyclone / événement climatique extrême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86200" y="1618488"/>
            <a:ext cx="1325880" cy="2377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1618488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49240" y="156362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Filets anti-vent · variétés résistantes · délai replantation 2–3 semaines · assurance récolte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2002536"/>
            <a:ext cx="8686800" cy="457200"/>
          </a:xfrm>
          <a:prstGeom prst="rect">
            <a:avLst/>
          </a:prstGeom>
          <a:solidFill>
            <a:srgbClr val="EDE8D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09397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 agricole insuffisant (an 1)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86200" y="2112264"/>
            <a:ext cx="1325880" cy="237744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2112264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(10–15 %)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349240" y="2057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 limité (6 planches) · cultures testées · suivi rendement/coût hebdo rigoureux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2496312"/>
            <a:ext cx="8686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5877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Débouchés commerciaux faibles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86200" y="2606040"/>
            <a:ext cx="1325880" cy="237744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86200" y="2606040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(10 %)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49240" y="255117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Pré-commandes avant semis · circuits courts · paniers directs · relation client locale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2990088"/>
            <a:ext cx="8686800" cy="457200"/>
          </a:xfrm>
          <a:prstGeom prst="rect">
            <a:avLst/>
          </a:prstGeom>
          <a:solidFill>
            <a:srgbClr val="EDE8D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0815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Monétisation digitale lente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86200" y="3099816"/>
            <a:ext cx="1325880" cy="2377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86200" y="3099816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(20 %)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349240" y="304495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baser le modèle sur le digital à court terme · priorité vente légumes physique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3483864"/>
            <a:ext cx="8686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5753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hydrique (sécheresse saison sèche)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886200" y="3593592"/>
            <a:ext cx="1325880" cy="2377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86200" y="359359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349240" y="35387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Citerne collecte pluie · goutte-à-goutte · paillage épais · agent IA alerte irrigation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977640"/>
            <a:ext cx="8686800" cy="457200"/>
          </a:xfrm>
          <a:prstGeom prst="rect">
            <a:avLst/>
          </a:prstGeom>
          <a:solidFill>
            <a:srgbClr val="EDE8D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069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réglementaire semences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886200" y="4087368"/>
            <a:ext cx="1325880" cy="2377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86200" y="4087368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(25 %)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349240" y="403250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Cadrer précisément avant toute commercialisation · consultation MAIF / légal en amont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28600" y="4471416"/>
            <a:ext cx="8686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5628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50/50 mal formalisée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886200" y="4581144"/>
            <a:ext cx="1325880" cy="23774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86200" y="4581144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faible (5 %)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349240" y="4526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 écrit détaillé signé avant premier semis · rôles, dépenses, revenus, sortie, arbitrage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3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411480" cy="51435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347472"/>
            <a:ext cx="237744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0292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APPEL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À PARTENAIRES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Clemencia Garden est un projet mauricien crédible,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 et différenciant.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2633472"/>
            <a:ext cx="1737360" cy="5943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670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réel · propriétaire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94560" y="2633472"/>
            <a:ext cx="1737360" cy="5943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2670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97480" y="26974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BPREA + expérience agricole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69080" y="2633472"/>
            <a:ext cx="1737360" cy="5943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9080" y="2670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26974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Dataviz · IA frugale · narration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" y="34015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que nous recherchons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37673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Micro-financement démarrage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54680" y="37673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Appui technique agronomique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408736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Accès à des débouchés commerciaux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54680" y="408736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Mentorat · mise en réseau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526280"/>
            <a:ext cx="548640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clemencia.garden@contact.mu  ·  Kush &amp; Dax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5486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Arpent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400800" y="1143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réel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166420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68k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400800" y="22585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démarrage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277977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445k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400800" y="33741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prév. An 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3895344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 / 50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400800" y="44897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Dossier BPREA – Clemencia Garden, Maurice 2026</dc:title>
  <dc:subject>PptxGenJS Presentation</dc:subject>
  <dc:creator>Clemencia Garden – Kush &amp; Dax</dc:creator>
  <cp:lastModifiedBy>Clemencia Garden – Kush &amp; Dax</cp:lastModifiedBy>
  <cp:revision>1</cp:revision>
  <dcterms:created xsi:type="dcterms:W3CDTF">2026-05-03T08:27:59Z</dcterms:created>
  <dcterms:modified xsi:type="dcterms:W3CDTF">2026-05-03T08:27:59Z</dcterms:modified>
</cp:coreProperties>
</file>